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4A5F85"/>
                </a:solidFill>
                <a:latin typeface="Arial"/>
              </a:defRPr>
            </a:pPr>
            <a:r>
              <a:rPr sz="900" b="0" i="0" u="none" strike="noStrike">
                <a:solidFill>
                  <a:srgbClr val="4A5F85"/>
                </a:solidFill>
                <a:latin typeface="Arial"/>
              </a:rPr>
              <a:t>Growth by Buyer Segment (CAGR 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CAGR %</c:v>
                </c:pt>
              </c:strCache>
            </c:strRef>
          </c:tx>
          <c:spPr>
            <a:solidFill>
              <a:srgbClr val="1459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59F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6F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B82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9AF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Hedge Funds</c:v>
                  </c:pt>
                  <c:pt idx="1">
                    <c:v>RIAs / Family Offices</c:v>
                  </c:pt>
                  <c:pt idx="2">
                    <c:v>Asset Management</c:v>
                  </c:pt>
                  <c:pt idx="3">
                    <c:v>Private Equity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42</c:v>
                </c:pt>
                <c:pt idx="2">
                  <c:v>35</c:v>
                </c:pt>
                <c:pt idx="3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0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1A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0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426"/>
        </a:solidFill>
        <a:ln>
          <a:noFill/>
        </a:ln>
        <a:effectLst/>
      </c:spPr>
    </c:plotArea>
    <c:plotVisOnly val="1"/>
    <c:dispBlanksAs val="span"/>
  </c:chart>
  <c:spPr>
    <a:solidFill>
      <a:srgbClr val="0B14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-640080"/>
            <a:ext cx="6400800" cy="6400800"/>
          </a:xfrm>
          <a:prstGeom prst="ellipse">
            <a:avLst/>
          </a:prstGeom>
          <a:ln w="8890">
            <a:solidFill>
              <a:srgbClr val="1459F5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365760"/>
            <a:ext cx="4389120" cy="4389120"/>
          </a:xfrm>
          <a:prstGeom prst="ellipse">
            <a:avLst/>
          </a:prstGeom>
          <a:ln w="10160">
            <a:solidFill>
              <a:srgbClr val="1459F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371600"/>
            <a:ext cx="2377440" cy="2377440"/>
          </a:xfrm>
          <a:prstGeom prst="ellipse">
            <a:avLst/>
          </a:prstGeom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2011680"/>
            <a:ext cx="1097280" cy="1097280"/>
          </a:xfrm>
          <a:prstGeom prst="ellipse">
            <a:avLst/>
          </a:prstGeom>
          <a:ln w="1524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2560320"/>
            <a:ext cx="6492240" cy="0"/>
          </a:xfrm>
          <a:prstGeom prst="line">
            <a:avLst/>
          </a:prstGeom>
          <a:noFill/>
          <a:ln w="635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635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42048" y="2304288"/>
            <a:ext cx="512064" cy="51206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9944" y="1289304"/>
            <a:ext cx="164592" cy="164592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04504" y="3209544"/>
            <a:ext cx="164592" cy="164592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35624" y="3483864"/>
            <a:ext cx="164592" cy="164592"/>
          </a:xfrm>
          <a:prstGeom prst="ellipse">
            <a:avLst/>
          </a:prstGeom>
          <a:solidFill>
            <a:srgbClr val="7B4FFF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777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DATA UNLOCKED HACKATHON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09728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5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Radar</a:t>
            </a:r>
            <a:endParaRPr lang="en-US" sz="5800" dirty="0"/>
          </a:p>
        </p:txBody>
      </p:sp>
      <p:sp>
        <p:nvSpPr>
          <p:cNvPr id="14" name="Text 12"/>
          <p:cNvSpPr/>
          <p:nvPr/>
        </p:nvSpPr>
        <p:spPr>
          <a:xfrm>
            <a:off x="502920" y="33649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digital signals to earnings alpha.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00D4FF">
              <a:alpha val="20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86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75688" y="3886200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7B4FFF">
              <a:alpha val="20000"/>
            </a:srgbClr>
          </a:solidFill>
          <a:ln w="10160">
            <a:solidFill>
              <a:srgbClr val="7B4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75688" y="3886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Changes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48456" y="3886200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00E5A0">
              <a:alpha val="20000"/>
            </a:srgbClr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8456" y="3886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Traffic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321040" y="4828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4828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from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data now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lasts weeks,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months.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needs synthesis — not more raw feeds.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94960" y="713232"/>
            <a:ext cx="54864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0" y="6217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$14B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577840" y="1444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data market in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2176272"/>
            <a:ext cx="54864" cy="1005840"/>
          </a:xfrm>
          <a:prstGeom prst="rect">
            <a:avLst/>
          </a:prstGeom>
          <a:solidFill>
            <a:srgbClr val="7B4FFF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208483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7B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577840" y="2907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market growth (CAGR)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3639312"/>
            <a:ext cx="54864" cy="10058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35478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5577840" y="4370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 adoption rate in 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66360" y="457200"/>
            <a:ext cx="0" cy="4389120"/>
          </a:xfrm>
          <a:prstGeom prst="line">
            <a:avLst/>
          </a:prstGeom>
          <a:noFill/>
          <a:ln w="10160">
            <a:solidFill>
              <a:srgbClr val="1A2A4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4828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forces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the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landscape.</a:t>
            </a:r>
            <a:endParaRPr lang="en-US" sz="3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2514600"/>
          <a:ext cx="42062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37176" y="758952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02352" y="7132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Web-scraped data: 56% of investment cases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00600" y="1152144"/>
            <a:ext cx="41148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37176" y="1472184"/>
            <a:ext cx="164592" cy="164592"/>
          </a:xfrm>
          <a:prstGeom prst="ellipse">
            <a:avLst/>
          </a:prstGeom>
          <a:solidFill>
            <a:srgbClr val="FF4060"/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02352" y="14264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signals decay 5–10% effectiveness per year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0" y="1865376"/>
            <a:ext cx="41148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37176" y="2185416"/>
            <a:ext cx="164592" cy="164592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02352" y="2139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cost fell from $500K to $5K since 2015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00600" y="2578608"/>
            <a:ext cx="41148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37176" y="2898648"/>
            <a:ext cx="164592" cy="164592"/>
          </a:xfrm>
          <a:prstGeom prst="ellipse">
            <a:avLst/>
          </a:prstGeom>
          <a:solidFill>
            <a:srgbClr val="7B4FFF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02352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plan AI budget growth — only 31% deployed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00600" y="3291840"/>
            <a:ext cx="41148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37176" y="3611880"/>
            <a:ext cx="164592" cy="164592"/>
          </a:xfrm>
          <a:prstGeom prst="ellipse">
            <a:avLst/>
          </a:prstGeom>
          <a:solidFill>
            <a:srgbClr val="FF4060"/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02352" y="3566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similarity up 42% since 2013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00600" y="4005072"/>
            <a:ext cx="41148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37176" y="4325112"/>
            <a:ext cx="164592" cy="164592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02352" y="4279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BlackRock: $3.2B Preqin — alt data =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4828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delivers a verdict — only raw feeds.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8503920" cy="256032"/>
          </a:xfrm>
          <a:prstGeom prst="rect">
            <a:avLst/>
          </a:prstGeom>
          <a:solidFill>
            <a:srgbClr val="0D1F45"/>
          </a:solidFill>
          <a:ln w="12700">
            <a:solidFill>
              <a:srgbClr val="0D1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86000" y="1536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SIGNAL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0" y="1536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635240" y="1536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801368"/>
            <a:ext cx="8503920" cy="420624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YipitData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28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Consumer-only, no synthesis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16952" y="1947672"/>
            <a:ext cx="128016" cy="128016"/>
          </a:xfrm>
          <a:prstGeom prst="ellipse">
            <a:avLst/>
          </a:prstGeom>
          <a:solidFill>
            <a:srgbClr val="FF4060"/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08976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$100K–$1M+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2267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Thinknum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86000" y="22677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· Pricing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267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— no scoring layer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16952" y="2386584"/>
            <a:ext cx="128016" cy="128016"/>
          </a:xfrm>
          <a:prstGeom prst="ellipse">
            <a:avLst/>
          </a:prstGeom>
          <a:solidFill>
            <a:srgbClr val="FF4060"/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08976" y="22677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$50K–$300K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679192"/>
            <a:ext cx="8503920" cy="420624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7066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SM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0" y="27066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spend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27066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Terminal-only, spending only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16952" y="2825496"/>
            <a:ext cx="128016" cy="128016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08976" y="27066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" y="31455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RavenPack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86000" y="31455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sentiment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314553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operational signals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16952" y="3264408"/>
            <a:ext cx="128016" cy="128016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08976" y="31455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$30K–$200K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3557016"/>
            <a:ext cx="8503920" cy="420624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584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SimilarWeb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286000" y="3584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traffic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35844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Traffic-only, not finance-first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16952" y="3703320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08976" y="3584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$15K–$100K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864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ExtractAlpha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28600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factors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0" y="4023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Quant-only, narrow coverage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16952" y="4142232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08976" y="4023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$10K–$60K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11480" y="4663440"/>
            <a:ext cx="8503920" cy="292608"/>
          </a:xfrm>
          <a:prstGeom prst="rect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4663440"/>
            <a:ext cx="64008" cy="2926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" y="46817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gap: synthesize job + pricing + traffic into a scored earnings health signal — under $10K/year.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4828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Data Radar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353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scored earnings health signal. Built from three web data streams.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1560" y="2743200"/>
            <a:ext cx="7040880" cy="0"/>
          </a:xfrm>
          <a:prstGeom prst="line">
            <a:avLst/>
          </a:prstGeom>
          <a:noFill/>
          <a:ln w="1905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92224"/>
            <a:ext cx="2286000" cy="877824"/>
          </a:xfrm>
          <a:prstGeom prst="rect">
            <a:avLst/>
          </a:prstGeom>
          <a:solidFill>
            <a:srgbClr val="0B142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92224"/>
            <a:ext cx="2286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65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velocity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mix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27632" y="2679192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792224"/>
            <a:ext cx="2286000" cy="877824"/>
          </a:xfrm>
          <a:prstGeom prst="rect">
            <a:avLst/>
          </a:prstGeom>
          <a:solidFill>
            <a:srgbClr val="0B1426"/>
          </a:solidFill>
          <a:ln w="12700">
            <a:solidFill>
              <a:srgbClr val="7B4FF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792224"/>
            <a:ext cx="2286000" cy="45720"/>
          </a:xfrm>
          <a:prstGeom prst="rect">
            <a:avLst/>
          </a:prstGeom>
          <a:solidFill>
            <a:srgbClr val="7B4FFF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865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Pages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1488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changes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shifts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07992" y="2679192"/>
            <a:ext cx="128016" cy="128016"/>
          </a:xfrm>
          <a:prstGeom prst="ellipse">
            <a:avLst/>
          </a:prstGeom>
          <a:solidFill>
            <a:srgbClr val="7B4FFF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792224"/>
            <a:ext cx="2286000" cy="877824"/>
          </a:xfrm>
          <a:prstGeom prst="rect">
            <a:avLst/>
          </a:prstGeom>
          <a:solidFill>
            <a:srgbClr val="0B1426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792224"/>
            <a:ext cx="22860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865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Traffic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1488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trends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88352" y="2679192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2971800"/>
            <a:ext cx="3931920" cy="1627632"/>
          </a:xfrm>
          <a:prstGeom prst="rect">
            <a:avLst/>
          </a:prstGeom>
          <a:solidFill>
            <a:srgbClr val="0B1426"/>
          </a:solidFill>
          <a:ln w="19050">
            <a:solidFill>
              <a:srgbClr val="1459F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06040" y="2971800"/>
            <a:ext cx="3931920" cy="64008"/>
          </a:xfrm>
          <a:prstGeom prst="rect">
            <a:avLst/>
          </a:prstGeom>
          <a:solidFill>
            <a:srgbClr val="1459F5"/>
          </a:solidFill>
          <a:ln w="12700">
            <a:solidFill>
              <a:srgbClr val="1459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3090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HEALTH SCORE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97480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4526280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697480" y="41696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 ·  38 DAYS PRE-EARNINGS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4828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steps.</a:t>
            </a:r>
            <a:endParaRPr lang="en-US" sz="4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verdict.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2011680" cy="2852928"/>
          </a:xfrm>
          <a:prstGeom prst="rect">
            <a:avLst/>
          </a:prstGeom>
          <a:solidFill>
            <a:srgbClr val="0B142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828800"/>
            <a:ext cx="20116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385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072384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crawl of job boards, pricing pages &amp; web analytics.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3255264"/>
            <a:ext cx="164592" cy="0"/>
          </a:xfrm>
          <a:prstGeom prst="line">
            <a:avLst/>
          </a:prstGeom>
          <a:noFill/>
          <a:ln w="15240">
            <a:solidFill>
              <a:srgbClr val="4A5F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87752" y="1828800"/>
            <a:ext cx="2011680" cy="2852928"/>
          </a:xfrm>
          <a:prstGeom prst="rect">
            <a:avLst/>
          </a:prstGeom>
          <a:solidFill>
            <a:srgbClr val="0B1426"/>
          </a:solidFill>
          <a:ln w="12700">
            <a:solidFill>
              <a:srgbClr val="7B4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87752" y="1828800"/>
            <a:ext cx="2011680" cy="54864"/>
          </a:xfrm>
          <a:prstGeom prst="rect">
            <a:avLst/>
          </a:prstGeom>
          <a:solidFill>
            <a:srgbClr val="7B4FFF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9385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B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724912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24912" y="3072384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deduplicate &amp; unify across all three signal types.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99432" y="3255264"/>
            <a:ext cx="164592" cy="0"/>
          </a:xfrm>
          <a:prstGeom prst="line">
            <a:avLst/>
          </a:prstGeom>
          <a:noFill/>
          <a:ln w="15240">
            <a:solidFill>
              <a:srgbClr val="4A5F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4024" y="1828800"/>
            <a:ext cx="2011680" cy="2852928"/>
          </a:xfrm>
          <a:prstGeom prst="rect">
            <a:avLst/>
          </a:prstGeom>
          <a:solidFill>
            <a:srgbClr val="0B1426"/>
          </a:solidFill>
          <a:ln w="12700">
            <a:solidFill>
              <a:srgbClr val="1459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64024" y="1828800"/>
            <a:ext cx="2011680" cy="54864"/>
          </a:xfrm>
          <a:prstGeom prst="rect">
            <a:avLst/>
          </a:prstGeom>
          <a:solidFill>
            <a:srgbClr val="1459F5"/>
          </a:solidFill>
          <a:ln w="12700">
            <a:solidFill>
              <a:srgbClr val="1459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19385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5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901184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01184" y="3072384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outputs a 0–100 Earnings Health Score.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75704" y="3255264"/>
            <a:ext cx="164592" cy="0"/>
          </a:xfrm>
          <a:prstGeom prst="line">
            <a:avLst/>
          </a:prstGeom>
          <a:noFill/>
          <a:ln w="15240">
            <a:solidFill>
              <a:srgbClr val="4A5F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0296" y="1828800"/>
            <a:ext cx="2011680" cy="2852928"/>
          </a:xfrm>
          <a:prstGeom prst="rect">
            <a:avLst/>
          </a:prstGeom>
          <a:solidFill>
            <a:srgbClr val="0B1426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0296" y="1828800"/>
            <a:ext cx="20116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19385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7077456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77456" y="3072384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delivery with alerts firing 4–8 weeks before earnings.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 · WHAT THEY NEED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4828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buyers.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4114800" cy="1298448"/>
          </a:xfrm>
          <a:prstGeom prst="rect">
            <a:avLst/>
          </a:prstGeom>
          <a:solidFill>
            <a:srgbClr val="0B1426"/>
          </a:solidFill>
          <a:ln w="12700">
            <a:solidFill>
              <a:srgbClr val="1459F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783080"/>
            <a:ext cx="4114800" cy="45720"/>
          </a:xfrm>
          <a:prstGeom prst="rect">
            <a:avLst/>
          </a:prstGeom>
          <a:solidFill>
            <a:srgbClr val="1459F5"/>
          </a:solidFill>
          <a:ln w="12700">
            <a:solidFill>
              <a:srgbClr val="1459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11096"/>
            <a:ext cx="914400" cy="201168"/>
          </a:xfrm>
          <a:prstGeom prst="roundRect">
            <a:avLst>
              <a:gd name="adj" fmla="val 13636"/>
            </a:avLst>
          </a:prstGeom>
          <a:solidFill>
            <a:srgbClr val="1459F5">
              <a:alpha val="22000"/>
            </a:srgbClr>
          </a:solidFill>
          <a:ln w="8890">
            <a:solidFill>
              <a:srgbClr val="145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11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145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4360" y="21854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Funds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5328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$500M–$10B AUM  ·  $50K–$500K/yr data budget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analysts seeking pre-earnings edge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3264408"/>
            <a:ext cx="4114800" cy="1298448"/>
          </a:xfrm>
          <a:prstGeom prst="rect">
            <a:avLst/>
          </a:prstGeom>
          <a:solidFill>
            <a:srgbClr val="0B1426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3264408"/>
            <a:ext cx="41148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92424"/>
            <a:ext cx="914400" cy="201168"/>
          </a:xfrm>
          <a:prstGeom prst="roundRect">
            <a:avLst>
              <a:gd name="adj" fmla="val 13636"/>
            </a:avLst>
          </a:prstGeom>
          <a:solidFill>
            <a:srgbClr val="00E5A0">
              <a:alpha val="22000"/>
            </a:srgbClr>
          </a:solidFill>
          <a:ln w="889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92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4360" y="36667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RIAs &amp; Independents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401421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Sub-$500M funds  ·  Teams of 1–3 people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priced out of institutional-grade 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457200"/>
            <a:ext cx="0" cy="4434840"/>
          </a:xfrm>
          <a:prstGeom prst="line">
            <a:avLst/>
          </a:prstGeom>
          <a:noFill/>
          <a:ln w="10160">
            <a:solidFill>
              <a:srgbClr val="1A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658368"/>
            <a:ext cx="2011680" cy="1920240"/>
          </a:xfrm>
          <a:prstGeom prst="rect">
            <a:avLst/>
          </a:prstGeom>
          <a:solidFill>
            <a:srgbClr val="0B1426"/>
          </a:solidFill>
          <a:ln w="12700">
            <a:solidFill>
              <a:srgbClr val="FF4060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658368"/>
            <a:ext cx="2011680" cy="45720"/>
          </a:xfrm>
          <a:prstGeom prst="rect">
            <a:avLst/>
          </a:prstGeom>
          <a:solidFill>
            <a:srgbClr val="FF4060"/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731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029200" y="1280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crowding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16642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priced into markets within days.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40880" y="658368"/>
            <a:ext cx="2011680" cy="1920240"/>
          </a:xfrm>
          <a:prstGeom prst="rect">
            <a:avLst/>
          </a:prstGeom>
          <a:solidFill>
            <a:srgbClr val="0B1426"/>
          </a:solidFill>
          <a:ln w="12700">
            <a:solidFill>
              <a:srgbClr val="FFB830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40880" y="658368"/>
            <a:ext cx="2011680" cy="45720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731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178040" y="1280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78040" y="16642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3–8 vendor relationships, no unified view.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2807208"/>
            <a:ext cx="2011680" cy="1920240"/>
          </a:xfrm>
          <a:prstGeom prst="rect">
            <a:avLst/>
          </a:prstGeom>
          <a:solidFill>
            <a:srgbClr val="0B1426"/>
          </a:solidFill>
          <a:ln w="12700">
            <a:solidFill>
              <a:srgbClr val="7B4FF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2807208"/>
            <a:ext cx="2011680" cy="45720"/>
          </a:xfrm>
          <a:prstGeom prst="rect">
            <a:avLst/>
          </a:prstGeom>
          <a:solidFill>
            <a:srgbClr val="7B4FFF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880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B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5029200" y="3429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exclusion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381304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funds priced out at $50K+ minimums.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40880" y="2807208"/>
            <a:ext cx="2011680" cy="1920240"/>
          </a:xfrm>
          <a:prstGeom prst="rect">
            <a:avLst/>
          </a:prstGeom>
          <a:solidFill>
            <a:srgbClr val="0B142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40880" y="2807208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8040" y="2880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7178040" y="3429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78040" y="381304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fire too late — 1–2 weeks, not 4–8.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THIS NOW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4828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</a:t>
            </a:r>
            <a:endParaRPr lang="en-US" sz="6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open.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37160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months before Bloomberg absorbs this space.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834640"/>
            <a:ext cx="2697480" cy="1783080"/>
          </a:xfrm>
          <a:prstGeom prst="rect">
            <a:avLst/>
          </a:prstGeom>
          <a:solidFill>
            <a:srgbClr val="0B142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2834640"/>
            <a:ext cx="26974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443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Timing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data is consolidating. Independent synthesizers have a shrinking window.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2834640"/>
            <a:ext cx="2697480" cy="1783080"/>
          </a:xfrm>
          <a:prstGeom prst="rect">
            <a:avLst/>
          </a:prstGeom>
          <a:solidFill>
            <a:srgbClr val="0B1426"/>
          </a:solidFill>
          <a:ln w="12700">
            <a:solidFill>
              <a:srgbClr val="7B4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2834640"/>
            <a:ext cx="2697480" cy="54864"/>
          </a:xfrm>
          <a:prstGeom prst="rect">
            <a:avLst/>
          </a:prstGeom>
          <a:solidFill>
            <a:srgbClr val="7B4FFF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29443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Gap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47288" y="3337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synthesis layer doesn't exist yet. That's the moat.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17336" y="2834640"/>
            <a:ext cx="2697480" cy="1783080"/>
          </a:xfrm>
          <a:prstGeom prst="rect">
            <a:avLst/>
          </a:prstGeom>
          <a:solidFill>
            <a:srgbClr val="0B1426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2834640"/>
            <a:ext cx="26974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9443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Hunger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0216" y="3337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of advisers growing alt data spend. Mid-market is underserved.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754880"/>
            <a:ext cx="8503920" cy="0"/>
          </a:xfrm>
          <a:prstGeom prst="line">
            <a:avLst/>
          </a:prstGeom>
          <a:noFill/>
          <a:ln w="10160">
            <a:solidFill>
              <a:srgbClr val="1A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Data Radar  ·  Web Data UNLOCKED Hackathon  ·  May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Alternative Data Radar — Web Data UNLOCKED</dc:title>
  <dc:subject>PptxGenJS Presentation</dc:subject>
  <dc:creator>PptxGenJS</dc:creator>
  <cp:lastModifiedBy>PptxGenJS</cp:lastModifiedBy>
  <cp:revision>1</cp:revision>
  <dcterms:created xsi:type="dcterms:W3CDTF">2026-05-30T09:15:26Z</dcterms:created>
  <dcterms:modified xsi:type="dcterms:W3CDTF">2026-05-30T09:15:26Z</dcterms:modified>
</cp:coreProperties>
</file>